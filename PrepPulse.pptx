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8229600" cx="14630400"/>
  <p:notesSz cx="8229600" cy="14630400"/>
  <p:embeddedFontLst>
    <p:embeddedFont>
      <p:font typeface="Raleway"/>
      <p:regular r:id="rId16"/>
      <p:bold r:id="rId17"/>
      <p:italic r:id="rId18"/>
      <p:boldItalic r:id="rId19"/>
    </p:embeddedFont>
    <p:embeddedFont>
      <p:font typeface="Raleway Medium"/>
      <p:regular r:id="rId20"/>
      <p:bold r:id="rId21"/>
      <p:italic r:id="rId22"/>
      <p:boldItalic r:id="rId23"/>
    </p:embeddedFont>
    <p:embeddedFont>
      <p:font typeface="Comforta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Medium-regular.fntdata"/><Relationship Id="rId22" Type="http://schemas.openxmlformats.org/officeDocument/2006/relationships/font" Target="fonts/RalewayMedium-italic.fntdata"/><Relationship Id="rId21" Type="http://schemas.openxmlformats.org/officeDocument/2006/relationships/font" Target="fonts/RalewayMedium-bold.fntdata"/><Relationship Id="rId24" Type="http://schemas.openxmlformats.org/officeDocument/2006/relationships/font" Target="fonts/Comfortaa-regular.fntdata"/><Relationship Id="rId23" Type="http://schemas.openxmlformats.org/officeDocument/2006/relationships/font" Target="fonts/RalewayMedium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Comforta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d387cc4e0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d387cc4e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dd387cc4e0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repulse-frontend.vercel.app" TargetMode="External"/><Relationship Id="rId4" Type="http://schemas.openxmlformats.org/officeDocument/2006/relationships/hyperlink" Target="https://prepulse-api.onrender.com/api/doc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272B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864037" y="271653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4300"/>
              <a:buFont typeface="Comfortaa"/>
              <a:buNone/>
            </a:pPr>
            <a:r>
              <a:rPr b="1" i="0" lang="en-US" sz="43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PrepPulse</a:t>
            </a:r>
            <a:endParaRPr b="0" i="0" sz="4300" u="none" cap="none" strike="noStrike"/>
          </a:p>
        </p:txBody>
      </p:sp>
      <p:sp>
        <p:nvSpPr>
          <p:cNvPr id="57" name="Google Shape;57;p13"/>
          <p:cNvSpPr/>
          <p:nvPr/>
        </p:nvSpPr>
        <p:spPr>
          <a:xfrm>
            <a:off x="864037" y="3772614"/>
            <a:ext cx="12902327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AI-Driven Campus Placement Decision Support System</a:t>
            </a:r>
            <a:endParaRPr b="0" i="0" sz="19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864037" y="4445318"/>
            <a:ext cx="12902327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Ansh Raj (2330289) · Manya Singh (2330311) · Preetush Bhowmik (2330175) · Labani Sen (2330309)</a:t>
            </a:r>
            <a:endParaRPr b="0" i="0" sz="190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864037" y="5118021"/>
            <a:ext cx="12902327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Software Engineering | KIIT University | 202</a:t>
            </a:r>
            <a:r>
              <a:rPr lang="en-US" sz="1900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5 Spring</a:t>
            </a:r>
            <a:endParaRPr b="0" i="0" sz="190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12816303" y="7677100"/>
            <a:ext cx="1827600" cy="552600"/>
          </a:xfrm>
          <a:prstGeom prst="roundRect">
            <a:avLst>
              <a:gd fmla="val 16667" name="adj"/>
            </a:avLst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4300"/>
              <a:buFont typeface="Comfortaa"/>
              <a:buNone/>
            </a:pPr>
            <a:r>
              <a:rPr b="1" lang="en-US" sz="2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PrepPulse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864037" y="784741"/>
            <a:ext cx="939938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4300"/>
              <a:buFont typeface="Comfortaa"/>
              <a:buNone/>
            </a:pPr>
            <a:r>
              <a:rPr b="1" i="0" lang="en-US" sz="43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The Placement Process is Broken</a:t>
            </a:r>
            <a:endParaRPr b="0" i="0" sz="430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864037" y="1964293"/>
            <a:ext cx="3040380" cy="4153853"/>
          </a:xfrm>
          <a:prstGeom prst="roundRect">
            <a:avLst>
              <a:gd fmla="val 4812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833557" y="1964293"/>
            <a:ext cx="121920" cy="4153853"/>
          </a:xfrm>
          <a:prstGeom prst="roundRect">
            <a:avLst>
              <a:gd fmla="val 303750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232773" y="2241590"/>
            <a:ext cx="23943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Manual Overload</a:t>
            </a:r>
            <a:endParaRPr b="0" i="0" sz="215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1232773" y="3075503"/>
            <a:ext cx="2394347" cy="2370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Placement officers manage </a:t>
            </a:r>
            <a:r>
              <a:rPr b="1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500+ students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in spreadsheets with no automation or filtering.</a:t>
            </a:r>
            <a:endParaRPr b="0" i="0" sz="190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4151233" y="1964293"/>
            <a:ext cx="3040499" cy="4153853"/>
          </a:xfrm>
          <a:prstGeom prst="roundRect">
            <a:avLst>
              <a:gd fmla="val 4812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4120753" y="1964293"/>
            <a:ext cx="121920" cy="4153853"/>
          </a:xfrm>
          <a:prstGeom prst="roundRect">
            <a:avLst>
              <a:gd fmla="val 303750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4519970" y="2241590"/>
            <a:ext cx="239446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No Eligibility Mapping</a:t>
            </a:r>
            <a:endParaRPr b="0" i="0" sz="215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4519970" y="3075503"/>
            <a:ext cx="2394466" cy="2370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No instant way to know which students qualify for which company — every check is manual.</a:t>
            </a:r>
            <a:endParaRPr b="0" i="0" sz="190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7438549" y="1964293"/>
            <a:ext cx="3040499" cy="4153853"/>
          </a:xfrm>
          <a:prstGeom prst="roundRect">
            <a:avLst>
              <a:gd fmla="val 4812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7408069" y="1964293"/>
            <a:ext cx="121920" cy="4153853"/>
          </a:xfrm>
          <a:prstGeom prst="roundRect">
            <a:avLst>
              <a:gd fmla="val 303750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7807285" y="2241590"/>
            <a:ext cx="239446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Blind Skill Gaps</a:t>
            </a:r>
            <a:endParaRPr b="0" i="0" sz="2150" u="none" cap="none" strike="noStrike"/>
          </a:p>
        </p:txBody>
      </p:sp>
      <p:sp>
        <p:nvSpPr>
          <p:cNvPr id="78" name="Google Shape;78;p14"/>
          <p:cNvSpPr/>
          <p:nvPr/>
        </p:nvSpPr>
        <p:spPr>
          <a:xfrm>
            <a:off x="7807285" y="2732603"/>
            <a:ext cx="2394466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Students only discover missing skills </a:t>
            </a:r>
            <a:r>
              <a:rPr b="1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after rejection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too late to act.</a:t>
            </a:r>
            <a:endParaRPr b="0" i="0" sz="190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10725864" y="1964293"/>
            <a:ext cx="3040499" cy="4153853"/>
          </a:xfrm>
          <a:prstGeom prst="roundRect">
            <a:avLst>
              <a:gd fmla="val 4812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10695384" y="1964293"/>
            <a:ext cx="121920" cy="4153853"/>
          </a:xfrm>
          <a:prstGeom prst="roundRect">
            <a:avLst>
              <a:gd fmla="val 303750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11094601" y="2241590"/>
            <a:ext cx="239446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Slow Feedback Loop</a:t>
            </a:r>
            <a:endParaRPr b="0" i="0" sz="215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11094601" y="3075503"/>
            <a:ext cx="2394466" cy="2765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Companies receive unfiltered applications; students get no guidance until opportunities are lost.</a:t>
            </a:r>
            <a:endParaRPr b="0" i="0" sz="1900" u="none" cap="none" strike="noStrike"/>
          </a:p>
        </p:txBody>
      </p:sp>
      <p:sp>
        <p:nvSpPr>
          <p:cNvPr id="83" name="Google Shape;83;p14"/>
          <p:cNvSpPr/>
          <p:nvPr/>
        </p:nvSpPr>
        <p:spPr>
          <a:xfrm>
            <a:off x="864037" y="6395799"/>
            <a:ext cx="12902327" cy="1049060"/>
          </a:xfrm>
          <a:prstGeom prst="roundRect">
            <a:avLst>
              <a:gd fmla="val 35301" name="adj"/>
            </a:avLst>
          </a:prstGeom>
          <a:solidFill>
            <a:srgbClr val="4D4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853" y="6762631"/>
            <a:ext cx="308610" cy="2468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/>
          <p:nvPr/>
        </p:nvSpPr>
        <p:spPr>
          <a:xfrm>
            <a:off x="1666280" y="6704290"/>
            <a:ext cx="11853267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Raleway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Result:</a:t>
            </a:r>
            <a:r>
              <a:rPr b="0" i="0" lang="en-US" sz="1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Low placement rates, missed opportunities, and wasted time for all stakeholders.</a:t>
            </a:r>
            <a:endParaRPr b="0" i="0" sz="1900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12802700" y="7677100"/>
            <a:ext cx="1827600" cy="552600"/>
          </a:xfrm>
          <a:prstGeom prst="roundRect">
            <a:avLst>
              <a:gd fmla="val 16667" name="adj"/>
            </a:avLst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PrepPulse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/>
          <p:nvPr/>
        </p:nvSpPr>
        <p:spPr>
          <a:xfrm>
            <a:off x="1120497" y="1204198"/>
            <a:ext cx="11366778" cy="56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500"/>
              <a:buFont typeface="Comfortaa"/>
              <a:buNone/>
            </a:pPr>
            <a:r>
              <a:rPr b="1" i="0" lang="en-US" sz="35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PrepPulse — Intelligent Placement Infrastructure</a:t>
            </a:r>
            <a:endParaRPr b="0" i="0" sz="3500" u="none" cap="none" strike="noStrike"/>
          </a:p>
        </p:txBody>
      </p:sp>
      <p:sp>
        <p:nvSpPr>
          <p:cNvPr id="93" name="Google Shape;93;p15"/>
          <p:cNvSpPr/>
          <p:nvPr/>
        </p:nvSpPr>
        <p:spPr>
          <a:xfrm>
            <a:off x="1120497" y="2095738"/>
            <a:ext cx="12389287" cy="293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A full-stack web application that automates and elevates the entire campus placement lifecycle.</a:t>
            </a:r>
            <a:endParaRPr b="0" i="0" sz="155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1120497" y="2575441"/>
            <a:ext cx="4019550" cy="2142292"/>
          </a:xfrm>
          <a:prstGeom prst="roundRect">
            <a:avLst>
              <a:gd fmla="val 14144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1322427" y="2777371"/>
            <a:ext cx="605909" cy="605909"/>
          </a:xfrm>
          <a:prstGeom prst="roundRect">
            <a:avLst>
              <a:gd fmla="val 15089866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8996" y="2943939"/>
            <a:ext cx="272653" cy="27265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1322427" y="3548539"/>
            <a:ext cx="2244328" cy="280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50"/>
              <a:buFont typeface="Comfortaa"/>
              <a:buNone/>
            </a:pPr>
            <a:r>
              <a:rPr b="1" i="0" lang="en-US" sz="17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Smart Matching</a:t>
            </a:r>
            <a:endParaRPr b="0" i="0" sz="1750" u="none" cap="none" strike="noStrike"/>
          </a:p>
        </p:txBody>
      </p:sp>
      <p:sp>
        <p:nvSpPr>
          <p:cNvPr id="98" name="Google Shape;98;p15"/>
          <p:cNvSpPr/>
          <p:nvPr/>
        </p:nvSpPr>
        <p:spPr>
          <a:xfrm>
            <a:off x="1322427" y="3928110"/>
            <a:ext cx="3615690" cy="587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Weighted algorithm automatically ranks students for every job posting</a:t>
            </a:r>
            <a:endParaRPr b="0" i="0" sz="1550" u="none" cap="none" strike="noStrike"/>
          </a:p>
        </p:txBody>
      </p:sp>
      <p:sp>
        <p:nvSpPr>
          <p:cNvPr id="99" name="Google Shape;99;p15"/>
          <p:cNvSpPr/>
          <p:nvPr/>
        </p:nvSpPr>
        <p:spPr>
          <a:xfrm>
            <a:off x="5305306" y="2575441"/>
            <a:ext cx="4019550" cy="2142292"/>
          </a:xfrm>
          <a:prstGeom prst="roundRect">
            <a:avLst>
              <a:gd fmla="val 14144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507236" y="2777371"/>
            <a:ext cx="605909" cy="605909"/>
          </a:xfrm>
          <a:prstGeom prst="roundRect">
            <a:avLst>
              <a:gd fmla="val 15089866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3804" y="2943939"/>
            <a:ext cx="272653" cy="27265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5507236" y="3548539"/>
            <a:ext cx="2244328" cy="280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50"/>
              <a:buFont typeface="Comfortaa"/>
              <a:buNone/>
            </a:pPr>
            <a:r>
              <a:rPr b="1" i="0" lang="en-US" sz="17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Skill Gap Detection</a:t>
            </a:r>
            <a:endParaRPr b="0" i="0" sz="1750" u="none" cap="none" strike="noStrike"/>
          </a:p>
        </p:txBody>
      </p:sp>
      <p:sp>
        <p:nvSpPr>
          <p:cNvPr id="103" name="Google Shape;103;p15"/>
          <p:cNvSpPr/>
          <p:nvPr/>
        </p:nvSpPr>
        <p:spPr>
          <a:xfrm>
            <a:off x="5507236" y="3928110"/>
            <a:ext cx="3615690" cy="587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Identifies missing skills in real time for every student-job pair</a:t>
            </a:r>
            <a:endParaRPr b="0" i="0" sz="1550" u="none" cap="none" strike="noStrike"/>
          </a:p>
        </p:txBody>
      </p:sp>
      <p:sp>
        <p:nvSpPr>
          <p:cNvPr id="104" name="Google Shape;104;p15"/>
          <p:cNvSpPr/>
          <p:nvPr/>
        </p:nvSpPr>
        <p:spPr>
          <a:xfrm>
            <a:off x="9490115" y="2575441"/>
            <a:ext cx="4019669" cy="2142292"/>
          </a:xfrm>
          <a:prstGeom prst="roundRect">
            <a:avLst>
              <a:gd fmla="val 14144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9692045" y="2777371"/>
            <a:ext cx="605909" cy="605909"/>
          </a:xfrm>
          <a:prstGeom prst="roundRect">
            <a:avLst>
              <a:gd fmla="val 15089866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8613" y="2943939"/>
            <a:ext cx="272653" cy="27265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9692045" y="3548539"/>
            <a:ext cx="2244328" cy="280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50"/>
              <a:buFont typeface="Comfortaa"/>
              <a:buNone/>
            </a:pPr>
            <a:r>
              <a:rPr b="1" i="0" lang="en-US" sz="17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AI Roadmaps</a:t>
            </a:r>
            <a:endParaRPr b="0" i="0" sz="1750" u="none" cap="none" strike="noStrike"/>
          </a:p>
        </p:txBody>
      </p:sp>
      <p:sp>
        <p:nvSpPr>
          <p:cNvPr id="108" name="Google Shape;108;p15"/>
          <p:cNvSpPr/>
          <p:nvPr/>
        </p:nvSpPr>
        <p:spPr>
          <a:xfrm>
            <a:off x="9692045" y="3928110"/>
            <a:ext cx="3615809" cy="587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Local LLM generates personalised 3-step learning plans at zero cost</a:t>
            </a:r>
            <a:endParaRPr b="0" i="0" sz="1550" u="none" cap="none" strike="noStrike"/>
          </a:p>
        </p:txBody>
      </p:sp>
      <p:sp>
        <p:nvSpPr>
          <p:cNvPr id="109" name="Google Shape;109;p15"/>
          <p:cNvSpPr/>
          <p:nvPr/>
        </p:nvSpPr>
        <p:spPr>
          <a:xfrm>
            <a:off x="1120497" y="4882991"/>
            <a:ext cx="6111954" cy="2142292"/>
          </a:xfrm>
          <a:prstGeom prst="roundRect">
            <a:avLst>
              <a:gd fmla="val 14144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1322427" y="5084921"/>
            <a:ext cx="605909" cy="605909"/>
          </a:xfrm>
          <a:prstGeom prst="roundRect">
            <a:avLst>
              <a:gd fmla="val 15089866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8996" y="5251490"/>
            <a:ext cx="272653" cy="27265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/>
          <p:nvPr/>
        </p:nvSpPr>
        <p:spPr>
          <a:xfrm>
            <a:off x="1322427" y="5856089"/>
            <a:ext cx="2244328" cy="280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50"/>
              <a:buFont typeface="Comfortaa"/>
              <a:buNone/>
            </a:pPr>
            <a:r>
              <a:rPr b="1" i="0" lang="en-US" sz="17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Live Analytics</a:t>
            </a:r>
            <a:endParaRPr b="0" i="0" sz="1750" u="none" cap="none" strike="noStrike"/>
          </a:p>
        </p:txBody>
      </p:sp>
      <p:sp>
        <p:nvSpPr>
          <p:cNvPr id="113" name="Google Shape;113;p15"/>
          <p:cNvSpPr/>
          <p:nvPr/>
        </p:nvSpPr>
        <p:spPr>
          <a:xfrm>
            <a:off x="1322427" y="6235660"/>
            <a:ext cx="5708094" cy="587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Placement officers get a real-time command center with batch-level insights</a:t>
            </a:r>
            <a:endParaRPr b="0" i="0" sz="1550" u="none" cap="none" strike="noStrike"/>
          </a:p>
        </p:txBody>
      </p:sp>
      <p:sp>
        <p:nvSpPr>
          <p:cNvPr id="114" name="Google Shape;114;p15"/>
          <p:cNvSpPr/>
          <p:nvPr/>
        </p:nvSpPr>
        <p:spPr>
          <a:xfrm>
            <a:off x="7397710" y="4882991"/>
            <a:ext cx="6112073" cy="2142292"/>
          </a:xfrm>
          <a:prstGeom prst="roundRect">
            <a:avLst>
              <a:gd fmla="val 14144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7599640" y="5084921"/>
            <a:ext cx="605909" cy="605909"/>
          </a:xfrm>
          <a:prstGeom prst="roundRect">
            <a:avLst>
              <a:gd fmla="val 15089866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66209" y="5251490"/>
            <a:ext cx="272653" cy="27265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7599640" y="5856089"/>
            <a:ext cx="2244328" cy="280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50"/>
              <a:buFont typeface="Comfortaa"/>
              <a:buNone/>
            </a:pPr>
            <a:r>
              <a:rPr b="1" i="0" lang="en-US" sz="17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Company Portal</a:t>
            </a:r>
            <a:endParaRPr b="0" i="0" sz="1750" u="none" cap="none" strike="noStrike"/>
          </a:p>
        </p:txBody>
      </p:sp>
      <p:sp>
        <p:nvSpPr>
          <p:cNvPr id="118" name="Google Shape;118;p15"/>
          <p:cNvSpPr/>
          <p:nvPr/>
        </p:nvSpPr>
        <p:spPr>
          <a:xfrm>
            <a:off x="7599640" y="6235660"/>
            <a:ext cx="5708213" cy="587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Companies post jobs and receive auto-ranked, filtered candidate lists instantly</a:t>
            </a:r>
            <a:endParaRPr b="0" i="0" sz="1550" u="none" cap="none" strike="noStrike"/>
          </a:p>
        </p:txBody>
      </p:sp>
      <p:sp>
        <p:nvSpPr>
          <p:cNvPr id="119" name="Google Shape;119;p15"/>
          <p:cNvSpPr/>
          <p:nvPr/>
        </p:nvSpPr>
        <p:spPr>
          <a:xfrm>
            <a:off x="12802700" y="7677100"/>
            <a:ext cx="1827600" cy="552600"/>
          </a:xfrm>
          <a:prstGeom prst="roundRect">
            <a:avLst>
              <a:gd fmla="val 16667" name="adj"/>
            </a:avLst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PrepPulse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864037" y="1329928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4300"/>
              <a:buFont typeface="Comfortaa"/>
              <a:buNone/>
            </a:pPr>
            <a:r>
              <a:rPr b="1" i="0" lang="en-US" sz="43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Technology Stack</a:t>
            </a:r>
            <a:endParaRPr b="0" i="0" sz="4300" u="none" cap="none" strike="noStrike"/>
          </a:p>
        </p:txBody>
      </p:sp>
      <p:sp>
        <p:nvSpPr>
          <p:cNvPr id="126" name="Google Shape;126;p16"/>
          <p:cNvSpPr/>
          <p:nvPr/>
        </p:nvSpPr>
        <p:spPr>
          <a:xfrm>
            <a:off x="864037" y="2509480"/>
            <a:ext cx="555427" cy="555427"/>
          </a:xfrm>
          <a:prstGeom prst="roundRect">
            <a:avLst>
              <a:gd fmla="val 66675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977146" y="2581394"/>
            <a:ext cx="32908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550"/>
              <a:buFont typeface="Comfortaa"/>
              <a:buNone/>
            </a:pPr>
            <a:r>
              <a:rPr b="1" i="0" lang="en-US" sz="25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endParaRPr b="0" i="0" sz="2550" u="none" cap="none" strike="noStrike"/>
          </a:p>
        </p:txBody>
      </p:sp>
      <p:sp>
        <p:nvSpPr>
          <p:cNvPr id="128" name="Google Shape;128;p16"/>
          <p:cNvSpPr/>
          <p:nvPr/>
        </p:nvSpPr>
        <p:spPr>
          <a:xfrm>
            <a:off x="1666280" y="2594253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Backend</a:t>
            </a:r>
            <a:endParaRPr b="0" i="0" sz="2150" u="none" cap="none" strike="noStrike"/>
          </a:p>
        </p:txBody>
      </p:sp>
      <p:sp>
        <p:nvSpPr>
          <p:cNvPr id="129" name="Google Shape;129;p16"/>
          <p:cNvSpPr/>
          <p:nvPr/>
        </p:nvSpPr>
        <p:spPr>
          <a:xfrm>
            <a:off x="1666280" y="3085267"/>
            <a:ext cx="3292793" cy="3814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1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FastAPI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REST API with JWT auth</a:t>
            </a:r>
            <a:endParaRPr b="0" i="0" sz="1900" u="none" cap="none" strike="noStrike"/>
          </a:p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1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SQLAlchemy ORM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database abstraction</a:t>
            </a:r>
            <a:endParaRPr b="0" i="0" sz="1900" u="none" cap="none" strike="noStrike"/>
          </a:p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1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PostgreSQL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production database on Render</a:t>
            </a:r>
            <a:endParaRPr b="0" i="0" sz="1900" u="none" cap="none" strike="noStrike"/>
          </a:p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1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Ollama + Llama 3.2:3b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local AI, zero cost</a:t>
            </a:r>
            <a:endParaRPr b="0" i="0" sz="1900" u="none" cap="none" strike="noStrike"/>
          </a:p>
        </p:txBody>
      </p:sp>
      <p:sp>
        <p:nvSpPr>
          <p:cNvPr id="130" name="Google Shape;130;p16"/>
          <p:cNvSpPr/>
          <p:nvPr/>
        </p:nvSpPr>
        <p:spPr>
          <a:xfrm>
            <a:off x="5267682" y="2509480"/>
            <a:ext cx="555427" cy="555427"/>
          </a:xfrm>
          <a:prstGeom prst="roundRect">
            <a:avLst>
              <a:gd fmla="val 66675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380792" y="2581394"/>
            <a:ext cx="32908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550"/>
              <a:buFont typeface="Comfortaa"/>
              <a:buNone/>
            </a:pPr>
            <a:r>
              <a:rPr b="1" i="0" lang="en-US" sz="25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2</a:t>
            </a:r>
            <a:endParaRPr b="0" i="0" sz="2550" u="none" cap="none" strike="noStrike"/>
          </a:p>
        </p:txBody>
      </p:sp>
      <p:sp>
        <p:nvSpPr>
          <p:cNvPr id="132" name="Google Shape;132;p16"/>
          <p:cNvSpPr/>
          <p:nvPr/>
        </p:nvSpPr>
        <p:spPr>
          <a:xfrm>
            <a:off x="6069925" y="2594253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Frontend</a:t>
            </a:r>
            <a:endParaRPr b="0" i="0" sz="2150" u="none" cap="none" strike="noStrike"/>
          </a:p>
        </p:txBody>
      </p:sp>
      <p:sp>
        <p:nvSpPr>
          <p:cNvPr id="133" name="Google Shape;133;p16"/>
          <p:cNvSpPr/>
          <p:nvPr/>
        </p:nvSpPr>
        <p:spPr>
          <a:xfrm>
            <a:off x="6069925" y="3085267"/>
            <a:ext cx="3292793" cy="25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1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React 18 + Vite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fast, component-based UI</a:t>
            </a:r>
            <a:endParaRPr b="0" i="0" sz="1900" u="none" cap="none" strike="noStrike"/>
          </a:p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1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Zustand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lightweight state management</a:t>
            </a:r>
            <a:endParaRPr b="0" i="0" sz="1900" u="none" cap="none" strike="noStrike"/>
          </a:p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1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Recharts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data visualisation and charts</a:t>
            </a:r>
            <a:endParaRPr b="0" i="0" sz="1900" u="none" cap="none" strike="noStrike"/>
          </a:p>
        </p:txBody>
      </p:sp>
      <p:sp>
        <p:nvSpPr>
          <p:cNvPr id="134" name="Google Shape;134;p16"/>
          <p:cNvSpPr/>
          <p:nvPr/>
        </p:nvSpPr>
        <p:spPr>
          <a:xfrm>
            <a:off x="9671328" y="2509480"/>
            <a:ext cx="555427" cy="555427"/>
          </a:xfrm>
          <a:prstGeom prst="roundRect">
            <a:avLst>
              <a:gd fmla="val 66675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9784437" y="2581394"/>
            <a:ext cx="32908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550"/>
              <a:buFont typeface="Comfortaa"/>
              <a:buNone/>
            </a:pPr>
            <a:r>
              <a:rPr b="1" i="0" lang="en-US" sz="25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endParaRPr b="0" i="0" sz="2550" u="none" cap="none" strike="noStrike"/>
          </a:p>
        </p:txBody>
      </p:sp>
      <p:sp>
        <p:nvSpPr>
          <p:cNvPr id="136" name="Google Shape;136;p16"/>
          <p:cNvSpPr/>
          <p:nvPr/>
        </p:nvSpPr>
        <p:spPr>
          <a:xfrm>
            <a:off x="10473571" y="2594253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Deployment</a:t>
            </a:r>
            <a:endParaRPr b="0" i="0" sz="2150" u="none" cap="none" strike="noStrike"/>
          </a:p>
        </p:txBody>
      </p:sp>
      <p:sp>
        <p:nvSpPr>
          <p:cNvPr id="137" name="Google Shape;137;p16"/>
          <p:cNvSpPr/>
          <p:nvPr/>
        </p:nvSpPr>
        <p:spPr>
          <a:xfrm>
            <a:off x="10473571" y="3085267"/>
            <a:ext cx="3292793" cy="16665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1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Render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backend + PostgreSQL (free tier)</a:t>
            </a:r>
            <a:endParaRPr b="0" i="0" sz="1900" u="none" cap="none" strike="noStrike"/>
          </a:p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1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Vercel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frontend CDN, instant deploys</a:t>
            </a:r>
            <a:endParaRPr b="0" i="0" sz="1900" u="none" cap="none" strike="noStrike"/>
          </a:p>
        </p:txBody>
      </p:sp>
      <p:sp>
        <p:nvSpPr>
          <p:cNvPr id="138" name="Google Shape;138;p16"/>
          <p:cNvSpPr/>
          <p:nvPr/>
        </p:nvSpPr>
        <p:spPr>
          <a:xfrm>
            <a:off x="12802700" y="7677100"/>
            <a:ext cx="1827600" cy="552600"/>
          </a:xfrm>
          <a:prstGeom prst="roundRect">
            <a:avLst>
              <a:gd fmla="val 16667" name="adj"/>
            </a:avLst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PrepPulse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757476" y="1167170"/>
            <a:ext cx="5054679" cy="601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3750"/>
              <a:buFont typeface="Comfortaa"/>
              <a:buNone/>
            </a:pPr>
            <a:r>
              <a:rPr b="1" i="0" lang="en-US" sz="37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System Architecture</a:t>
            </a:r>
            <a:endParaRPr b="0" i="0" sz="3750" u="none" cap="none" strike="noStrike"/>
          </a:p>
        </p:txBody>
      </p:sp>
      <p:pic>
        <p:nvPicPr>
          <p:cNvPr descr="preencoded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476" y="2649141"/>
            <a:ext cx="8340209" cy="381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6866677" y="3157110"/>
            <a:ext cx="1639916" cy="20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50"/>
              <a:buFont typeface="Comfortaa"/>
              <a:buNone/>
            </a:pPr>
            <a:r>
              <a:rPr b="1" i="0" lang="en-US" sz="12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Services &amp; Data</a:t>
            </a:r>
            <a:endParaRPr b="0" i="0" sz="1250" u="none" cap="none" strike="noStrike"/>
          </a:p>
        </p:txBody>
      </p:sp>
      <p:sp>
        <p:nvSpPr>
          <p:cNvPr id="147" name="Google Shape;147;p17"/>
          <p:cNvSpPr/>
          <p:nvPr/>
        </p:nvSpPr>
        <p:spPr>
          <a:xfrm>
            <a:off x="6866677" y="3427696"/>
            <a:ext cx="2033497" cy="346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Ollama local LLM and PostgreSQL on Render</a:t>
            </a:r>
            <a:endParaRPr b="0" i="0" sz="1150" u="none" cap="none" strike="noStrike"/>
          </a:p>
        </p:txBody>
      </p:sp>
      <p:sp>
        <p:nvSpPr>
          <p:cNvPr id="148" name="Google Shape;148;p17"/>
          <p:cNvSpPr/>
          <p:nvPr/>
        </p:nvSpPr>
        <p:spPr>
          <a:xfrm>
            <a:off x="1184367" y="4325038"/>
            <a:ext cx="1639916" cy="20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50"/>
              <a:buFont typeface="Comfortaa"/>
              <a:buNone/>
            </a:pPr>
            <a:r>
              <a:rPr b="1" i="0" lang="en-US" sz="12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Backend</a:t>
            </a:r>
            <a:endParaRPr b="0" i="0" sz="1250" u="none" cap="none" strike="noStrike"/>
          </a:p>
        </p:txBody>
      </p:sp>
      <p:sp>
        <p:nvSpPr>
          <p:cNvPr id="149" name="Google Shape;149;p17"/>
          <p:cNvSpPr/>
          <p:nvPr/>
        </p:nvSpPr>
        <p:spPr>
          <a:xfrm>
            <a:off x="954779" y="4595624"/>
            <a:ext cx="1869505" cy="51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FastAPI on Render with JWT Auth and Match Engine</a:t>
            </a:r>
            <a:endParaRPr b="0" i="0" sz="1150" u="none" cap="none" strike="noStrike"/>
          </a:p>
        </p:txBody>
      </p:sp>
      <p:sp>
        <p:nvSpPr>
          <p:cNvPr id="150" name="Google Shape;150;p17"/>
          <p:cNvSpPr/>
          <p:nvPr/>
        </p:nvSpPr>
        <p:spPr>
          <a:xfrm>
            <a:off x="6866677" y="5059413"/>
            <a:ext cx="1639916" cy="204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50"/>
              <a:buFont typeface="Comfortaa"/>
              <a:buNone/>
            </a:pPr>
            <a:r>
              <a:rPr b="1" i="0" lang="en-US" sz="12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Frontend</a:t>
            </a:r>
            <a:endParaRPr b="0" i="0" sz="1250" u="none" cap="none" strike="noStrike"/>
          </a:p>
        </p:txBody>
      </p:sp>
      <p:sp>
        <p:nvSpPr>
          <p:cNvPr id="151" name="Google Shape;151;p17"/>
          <p:cNvSpPr/>
          <p:nvPr/>
        </p:nvSpPr>
        <p:spPr>
          <a:xfrm>
            <a:off x="6866677" y="5329999"/>
            <a:ext cx="2033497" cy="346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"/>
              <a:buNone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React on Vercel CDN sending HTTPS requests</a:t>
            </a:r>
            <a:endParaRPr b="0" i="0" sz="1150" u="none" cap="none" strike="noStrike"/>
          </a:p>
        </p:txBody>
      </p:sp>
      <p:sp>
        <p:nvSpPr>
          <p:cNvPr id="152" name="Google Shape;152;p17"/>
          <p:cNvSpPr/>
          <p:nvPr/>
        </p:nvSpPr>
        <p:spPr>
          <a:xfrm>
            <a:off x="9633228" y="2242423"/>
            <a:ext cx="2642116" cy="300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850"/>
              <a:buFont typeface="Comfortaa"/>
              <a:buNone/>
            </a:pPr>
            <a:r>
              <a:rPr b="1" i="0" lang="en-US" sz="18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Key Design Decisions</a:t>
            </a:r>
            <a:endParaRPr b="0" i="0" sz="1850" u="none" cap="none" strike="noStrike"/>
          </a:p>
        </p:txBody>
      </p:sp>
      <p:pic>
        <p:nvPicPr>
          <p:cNvPr descr="preencoded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4309" y="2767191"/>
            <a:ext cx="324564" cy="32456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10336411" y="2756416"/>
            <a:ext cx="3544014" cy="974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00"/>
              <a:buFont typeface="Raleway"/>
              <a:buNone/>
            </a:pPr>
            <a:r>
              <a:rPr b="1" i="0" lang="en-US" sz="17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Stateless REST API</a:t>
            </a:r>
            <a:r>
              <a:rPr b="0" i="0" lang="en-US" sz="17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scales horizontally without session coupling</a:t>
            </a:r>
            <a:endParaRPr b="0" i="0" sz="1700" u="none" cap="none" strike="noStrike"/>
          </a:p>
        </p:txBody>
      </p:sp>
      <p:pic>
        <p:nvPicPr>
          <p:cNvPr descr="preencoded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4309" y="4121289"/>
            <a:ext cx="324564" cy="32456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/>
          <p:nvPr/>
        </p:nvSpPr>
        <p:spPr>
          <a:xfrm>
            <a:off x="10336411" y="4110514"/>
            <a:ext cx="3544014" cy="649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00"/>
              <a:buFont typeface="Raleway"/>
              <a:buNone/>
            </a:pPr>
            <a:r>
              <a:rPr b="1" i="0" lang="en-US" sz="17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Local LLM</a:t>
            </a:r>
            <a:r>
              <a:rPr b="0" i="0" lang="en-US" sz="17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no external API dependency or recurring cost</a:t>
            </a:r>
            <a:endParaRPr b="0" i="0" sz="1700" u="none" cap="none" strike="noStrike"/>
          </a:p>
        </p:txBody>
      </p:sp>
      <p:pic>
        <p:nvPicPr>
          <p:cNvPr descr="preencoded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4309" y="5160585"/>
            <a:ext cx="324564" cy="32456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/>
          <p:nvPr/>
        </p:nvSpPr>
        <p:spPr>
          <a:xfrm>
            <a:off x="10336411" y="5149810"/>
            <a:ext cx="3544014" cy="649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00"/>
              <a:buFont typeface="Raleway"/>
              <a:buNone/>
            </a:pPr>
            <a:r>
              <a:rPr b="1" i="0" lang="en-US" sz="17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Role-Based Access Control</a:t>
            </a:r>
            <a:r>
              <a:rPr b="0" i="0" lang="en-US" sz="17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three fully isolated user types</a:t>
            </a:r>
            <a:endParaRPr b="0" i="0" sz="1700" u="none" cap="none" strike="noStrike"/>
          </a:p>
        </p:txBody>
      </p:sp>
      <p:pic>
        <p:nvPicPr>
          <p:cNvPr descr="preencoded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4309" y="6199882"/>
            <a:ext cx="324564" cy="32456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/>
          <p:nvPr/>
        </p:nvSpPr>
        <p:spPr>
          <a:xfrm>
            <a:off x="10336411" y="6189107"/>
            <a:ext cx="3544014" cy="649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700"/>
              <a:buFont typeface="Raleway"/>
              <a:buNone/>
            </a:pPr>
            <a:r>
              <a:rPr b="1" i="0" lang="en-US" sz="17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Seed Data System</a:t>
            </a:r>
            <a:r>
              <a:rPr b="0" i="0" lang="en-US" sz="17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— instant demo population on startup</a:t>
            </a:r>
            <a:endParaRPr b="0" i="0" sz="1700" u="none" cap="none" strike="noStrike"/>
          </a:p>
        </p:txBody>
      </p:sp>
      <p:sp>
        <p:nvSpPr>
          <p:cNvPr id="161" name="Google Shape;161;p17"/>
          <p:cNvSpPr/>
          <p:nvPr/>
        </p:nvSpPr>
        <p:spPr>
          <a:xfrm>
            <a:off x="12802700" y="7677100"/>
            <a:ext cx="1827600" cy="552600"/>
          </a:xfrm>
          <a:prstGeom prst="roundRect">
            <a:avLst>
              <a:gd fmla="val 16667" name="adj"/>
            </a:avLst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PrepPulse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806887" y="633889"/>
            <a:ext cx="6596777" cy="6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4000"/>
              <a:buFont typeface="Comfortaa"/>
              <a:buNone/>
            </a:pPr>
            <a:r>
              <a:rPr b="1" i="0" lang="en-US" sz="40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Intelligent Match Engine</a:t>
            </a:r>
            <a:endParaRPr b="0" i="0" sz="4000" u="none" cap="none" strike="noStrike"/>
          </a:p>
        </p:txBody>
      </p:sp>
      <p:pic>
        <p:nvPicPr>
          <p:cNvPr descr="preencoded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365" y="1704737"/>
            <a:ext cx="12599670" cy="4727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5620" y="2909036"/>
            <a:ext cx="650824" cy="65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/>
          <p:nvPr/>
        </p:nvSpPr>
        <p:spPr>
          <a:xfrm>
            <a:off x="11195776" y="5305288"/>
            <a:ext cx="1900406" cy="325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000"/>
              <a:buFont typeface="Comfortaa"/>
              <a:buNone/>
            </a:pPr>
            <a:r>
              <a:rPr b="1" i="0" lang="en-US" sz="20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Skill Gaps</a:t>
            </a:r>
            <a:endParaRPr b="0" i="0" sz="2000" u="none" cap="none" strike="noStrike"/>
          </a:p>
        </p:txBody>
      </p:sp>
      <p:pic>
        <p:nvPicPr>
          <p:cNvPr descr="preencoded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92994" y="2910256"/>
            <a:ext cx="650824" cy="65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/>
          <p:nvPr/>
        </p:nvSpPr>
        <p:spPr>
          <a:xfrm>
            <a:off x="8800745" y="5305288"/>
            <a:ext cx="1900406" cy="325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000"/>
              <a:buFont typeface="Comfortaa"/>
              <a:buNone/>
            </a:pPr>
            <a:r>
              <a:rPr b="1" i="0" lang="en-US" sz="20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Auto Ranking</a:t>
            </a:r>
            <a:endParaRPr b="0" i="0" sz="2000" u="none" cap="none" strike="noStrike"/>
          </a:p>
        </p:txBody>
      </p:sp>
      <p:pic>
        <p:nvPicPr>
          <p:cNvPr descr="preencoded.png" id="173" name="Google Shape;17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10979" y="2910256"/>
            <a:ext cx="650824" cy="65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/>
          <p:nvPr/>
        </p:nvSpPr>
        <p:spPr>
          <a:xfrm>
            <a:off x="6418729" y="5305288"/>
            <a:ext cx="1900406" cy="325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000"/>
              <a:buFont typeface="Comfortaa"/>
              <a:buNone/>
            </a:pPr>
            <a:r>
              <a:rPr b="1" i="0" lang="en-US" sz="20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Match Engine</a:t>
            </a:r>
            <a:endParaRPr b="0" i="0" sz="2000" u="none" cap="none" strike="noStrike"/>
          </a:p>
        </p:txBody>
      </p:sp>
      <p:pic>
        <p:nvPicPr>
          <p:cNvPr descr="preencoded.png" id="175" name="Google Shape;17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8964" y="2910256"/>
            <a:ext cx="650824" cy="65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/>
          <p:nvPr/>
        </p:nvSpPr>
        <p:spPr>
          <a:xfrm>
            <a:off x="4036714" y="5142582"/>
            <a:ext cx="1900405" cy="6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000"/>
              <a:buFont typeface="Comfortaa"/>
              <a:buNone/>
            </a:pPr>
            <a:r>
              <a:rPr b="1" i="0" lang="en-US" sz="20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Company Posting</a:t>
            </a:r>
            <a:endParaRPr b="0" i="0" sz="2000" u="none" cap="none" strike="noStrike"/>
          </a:p>
        </p:txBody>
      </p:sp>
      <p:pic>
        <p:nvPicPr>
          <p:cNvPr descr="preencoded.png" id="177" name="Google Shape;17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33932" y="2910256"/>
            <a:ext cx="650824" cy="650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1602633" y="5142582"/>
            <a:ext cx="1900406" cy="6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000"/>
              <a:buFont typeface="Comfortaa"/>
              <a:buNone/>
            </a:pPr>
            <a:r>
              <a:rPr b="1" i="0" lang="en-US" sz="20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Student Profile</a:t>
            </a:r>
            <a:endParaRPr b="0" i="0" sz="2000" u="none" cap="none" strike="noStrike"/>
          </a:p>
        </p:txBody>
      </p:sp>
      <p:sp>
        <p:nvSpPr>
          <p:cNvPr id="179" name="Google Shape;179;p18"/>
          <p:cNvSpPr/>
          <p:nvPr/>
        </p:nvSpPr>
        <p:spPr>
          <a:xfrm>
            <a:off x="806887" y="6674882"/>
            <a:ext cx="13016627" cy="938451"/>
          </a:xfrm>
          <a:prstGeom prst="roundRect">
            <a:avLst>
              <a:gd fmla="val 36849" name="adj"/>
            </a:avLst>
          </a:prstGeom>
          <a:solidFill>
            <a:srgbClr val="4D4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7392" y="7012781"/>
            <a:ext cx="288131" cy="23050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/>
          <p:nvPr/>
        </p:nvSpPr>
        <p:spPr>
          <a:xfrm>
            <a:off x="1556028" y="6947773"/>
            <a:ext cx="12036981" cy="356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aleway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Formula:</a:t>
            </a:r>
            <a:r>
              <a:rPr b="0" i="0" lang="en-US" sz="1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Score = (Skill Match% × 0.5) + (CGPA Score × 0.3) + (Branch Eligibility × 0.2)</a:t>
            </a:r>
            <a:endParaRPr b="0" i="0" sz="1800" u="none" cap="none" strike="noStrike"/>
          </a:p>
        </p:txBody>
      </p:sp>
      <p:sp>
        <p:nvSpPr>
          <p:cNvPr id="182" name="Google Shape;182;p18"/>
          <p:cNvSpPr/>
          <p:nvPr/>
        </p:nvSpPr>
        <p:spPr>
          <a:xfrm>
            <a:off x="12802700" y="7677100"/>
            <a:ext cx="1827600" cy="552600"/>
          </a:xfrm>
          <a:prstGeom prst="roundRect">
            <a:avLst>
              <a:gd fmla="val 16667" name="adj"/>
            </a:avLst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PrepPulse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/>
          <p:nvPr/>
        </p:nvSpPr>
        <p:spPr>
          <a:xfrm>
            <a:off x="817126" y="714732"/>
            <a:ext cx="7816691" cy="648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4050"/>
              <a:buFont typeface="Comfortaa"/>
              <a:buNone/>
            </a:pPr>
            <a:r>
              <a:rPr b="1" i="0" lang="en-US" sz="40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Local AI Learning Roadmaps</a:t>
            </a:r>
            <a:endParaRPr b="0" i="0" sz="4050" u="none" cap="none" strike="noStrike"/>
          </a:p>
        </p:txBody>
      </p:sp>
      <p:sp>
        <p:nvSpPr>
          <p:cNvPr id="189" name="Google Shape;189;p19"/>
          <p:cNvSpPr/>
          <p:nvPr/>
        </p:nvSpPr>
        <p:spPr>
          <a:xfrm>
            <a:off x="817126" y="1915120"/>
            <a:ext cx="2594253" cy="32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2000"/>
              <a:buFont typeface="Comfortaa"/>
              <a:buNone/>
            </a:pPr>
            <a:r>
              <a:rPr b="1" i="0" lang="en-US" sz="20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How It Works</a:t>
            </a:r>
            <a:endParaRPr b="0" i="0" sz="2000" u="none" cap="none" strike="noStrike"/>
          </a:p>
        </p:txBody>
      </p:sp>
      <p:sp>
        <p:nvSpPr>
          <p:cNvPr id="190" name="Google Shape;190;p19"/>
          <p:cNvSpPr/>
          <p:nvPr/>
        </p:nvSpPr>
        <p:spPr>
          <a:xfrm>
            <a:off x="817126" y="2487692"/>
            <a:ext cx="233482" cy="29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800"/>
              <a:buFont typeface="Comfortaa"/>
              <a:buNone/>
            </a:pPr>
            <a:r>
              <a:rPr b="0" i="0" lang="en-US" sz="18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01</a:t>
            </a:r>
            <a:endParaRPr b="0" i="0" sz="1800" u="none" cap="none" strike="noStrike"/>
          </a:p>
        </p:txBody>
      </p:sp>
      <p:sp>
        <p:nvSpPr>
          <p:cNvPr id="191" name="Google Shape;191;p19"/>
          <p:cNvSpPr/>
          <p:nvPr/>
        </p:nvSpPr>
        <p:spPr>
          <a:xfrm>
            <a:off x="817126" y="2854047"/>
            <a:ext cx="6213277" cy="30480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817126" y="3031688"/>
            <a:ext cx="6213277" cy="726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800"/>
              <a:buFont typeface="Raleway"/>
              <a:buNone/>
            </a:pPr>
            <a:r>
              <a:rPr b="0" i="0" lang="en-US" sz="18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System detects student's missing skills below match threshold</a:t>
            </a:r>
            <a:endParaRPr b="0" i="0" sz="1800" u="none" cap="none" strike="noStrike"/>
          </a:p>
        </p:txBody>
      </p:sp>
      <p:sp>
        <p:nvSpPr>
          <p:cNvPr id="193" name="Google Shape;193;p19"/>
          <p:cNvSpPr/>
          <p:nvPr/>
        </p:nvSpPr>
        <p:spPr>
          <a:xfrm>
            <a:off x="817126" y="4154210"/>
            <a:ext cx="233482" cy="29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800"/>
              <a:buFont typeface="Comfortaa"/>
              <a:buNone/>
            </a:pPr>
            <a:r>
              <a:rPr b="0" i="0" lang="en-US" sz="18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02</a:t>
            </a:r>
            <a:endParaRPr b="0" i="0" sz="1800" u="none" cap="none" strike="noStrike"/>
          </a:p>
        </p:txBody>
      </p:sp>
      <p:sp>
        <p:nvSpPr>
          <p:cNvPr id="194" name="Google Shape;194;p19"/>
          <p:cNvSpPr/>
          <p:nvPr/>
        </p:nvSpPr>
        <p:spPr>
          <a:xfrm>
            <a:off x="817126" y="4520565"/>
            <a:ext cx="6213277" cy="30480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817126" y="4698206"/>
            <a:ext cx="6213277" cy="726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800"/>
              <a:buFont typeface="Raleway"/>
              <a:buNone/>
            </a:pPr>
            <a:r>
              <a:rPr b="0" i="0" lang="en-US" sz="18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Student profile + job requirements sent to </a:t>
            </a:r>
            <a:r>
              <a:rPr b="1" i="0" lang="en-US" sz="18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Ollama (Llama 3.2:3b)</a:t>
            </a:r>
            <a:endParaRPr b="0" i="0" sz="1800" u="none" cap="none" strike="noStrike"/>
          </a:p>
        </p:txBody>
      </p:sp>
      <p:sp>
        <p:nvSpPr>
          <p:cNvPr id="196" name="Google Shape;196;p19"/>
          <p:cNvSpPr/>
          <p:nvPr/>
        </p:nvSpPr>
        <p:spPr>
          <a:xfrm>
            <a:off x="817126" y="5820728"/>
            <a:ext cx="233482" cy="291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800"/>
              <a:buFont typeface="Comfortaa"/>
              <a:buNone/>
            </a:pPr>
            <a:r>
              <a:rPr b="0" i="0" lang="en-US" sz="18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03</a:t>
            </a:r>
            <a:endParaRPr b="0" i="0" sz="1800" u="none" cap="none" strike="noStrike"/>
          </a:p>
        </p:txBody>
      </p:sp>
      <p:sp>
        <p:nvSpPr>
          <p:cNvPr id="197" name="Google Shape;197;p19"/>
          <p:cNvSpPr/>
          <p:nvPr/>
        </p:nvSpPr>
        <p:spPr>
          <a:xfrm>
            <a:off x="817126" y="6187083"/>
            <a:ext cx="6213277" cy="30480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817126" y="6364724"/>
            <a:ext cx="6213277" cy="726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800"/>
              <a:buFont typeface="Raleway"/>
              <a:buNone/>
            </a:pPr>
            <a:r>
              <a:rPr b="0" i="0" lang="en-US" sz="18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AI returns a personalised </a:t>
            </a:r>
            <a:r>
              <a:rPr b="1" i="0" lang="en-US" sz="18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3-step plan</a:t>
            </a:r>
            <a:r>
              <a:rPr b="0" i="0" lang="en-US" sz="18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: what to learn, resources, and timeline</a:t>
            </a:r>
            <a:endParaRPr b="0" i="0" sz="1800" u="none" cap="none" strike="noStrike"/>
          </a:p>
        </p:txBody>
      </p:sp>
      <p:sp>
        <p:nvSpPr>
          <p:cNvPr id="199" name="Google Shape;199;p19"/>
          <p:cNvSpPr/>
          <p:nvPr/>
        </p:nvSpPr>
        <p:spPr>
          <a:xfrm>
            <a:off x="7439501" y="1694378"/>
            <a:ext cx="6549509" cy="5820489"/>
          </a:xfrm>
          <a:prstGeom prst="roundRect">
            <a:avLst>
              <a:gd fmla="val 9627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7672983" y="1915120"/>
            <a:ext cx="2594253" cy="32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fortaa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Why Local LLM?</a:t>
            </a:r>
            <a:endParaRPr b="0" i="0" sz="2000" u="none" cap="none" strike="noStrike"/>
          </a:p>
        </p:txBody>
      </p:sp>
      <p:sp>
        <p:nvSpPr>
          <p:cNvPr id="201" name="Google Shape;201;p19"/>
          <p:cNvSpPr/>
          <p:nvPr/>
        </p:nvSpPr>
        <p:spPr>
          <a:xfrm>
            <a:off x="7672983" y="2460069"/>
            <a:ext cx="6082546" cy="1971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aleway Medium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Zero API cost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— runs on the college server</a:t>
            </a:r>
            <a:endParaRPr b="0" i="0" sz="1800" u="none" cap="none" strike="noStrike"/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aleway Medium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Full data privacy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— student data never leaves campus</a:t>
            </a:r>
            <a:endParaRPr b="0" i="0" sz="1800" u="none" cap="none" strike="noStrike"/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aleway Medium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Offline capable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— no internet required for AI features</a:t>
            </a:r>
            <a:endParaRPr b="0" i="0" sz="1800" u="none" cap="none" strike="noStrike"/>
          </a:p>
        </p:txBody>
      </p:sp>
      <p:sp>
        <p:nvSpPr>
          <p:cNvPr id="202" name="Google Shape;202;p19"/>
          <p:cNvSpPr/>
          <p:nvPr/>
        </p:nvSpPr>
        <p:spPr>
          <a:xfrm>
            <a:off x="12802700" y="7677100"/>
            <a:ext cx="1827600" cy="552600"/>
          </a:xfrm>
          <a:prstGeom prst="roundRect">
            <a:avLst>
              <a:gd fmla="val 16667" name="adj"/>
            </a:avLst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PrepPulse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/>
          <p:nvPr/>
        </p:nvSpPr>
        <p:spPr>
          <a:xfrm>
            <a:off x="864037" y="1323023"/>
            <a:ext cx="950690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4300"/>
              <a:buFont typeface="Comfortaa"/>
              <a:buNone/>
            </a:pPr>
            <a:r>
              <a:rPr b="1" i="0" lang="en-US" sz="43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One Platform, Three Perspectives</a:t>
            </a:r>
            <a:endParaRPr b="0" i="0" sz="4300" u="none" cap="none" strike="noStrike"/>
          </a:p>
        </p:txBody>
      </p:sp>
      <p:sp>
        <p:nvSpPr>
          <p:cNvPr id="209" name="Google Shape;209;p20"/>
          <p:cNvSpPr/>
          <p:nvPr/>
        </p:nvSpPr>
        <p:spPr>
          <a:xfrm>
            <a:off x="864037" y="2502575"/>
            <a:ext cx="4136231" cy="4404003"/>
          </a:xfrm>
          <a:prstGeom prst="roundRect">
            <a:avLst>
              <a:gd fmla="val 8953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1110853" y="2749391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🎓</a:t>
            </a: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 Student</a:t>
            </a:r>
            <a:endParaRPr b="0" i="0" sz="2150" u="none" cap="none" strike="noStrike"/>
          </a:p>
        </p:txBody>
      </p:sp>
      <p:sp>
        <p:nvSpPr>
          <p:cNvPr id="211" name="Google Shape;211;p20"/>
          <p:cNvSpPr/>
          <p:nvPr/>
        </p:nvSpPr>
        <p:spPr>
          <a:xfrm>
            <a:off x="1110853" y="3240405"/>
            <a:ext cx="3642598" cy="3419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Dashboard: CGPA, skills, application count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Browse jobs with real-time match scores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One-click apply &amp; application status tracking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AI roadmap for skill gap closure</a:t>
            </a:r>
            <a:endParaRPr b="0" i="0" sz="1900" u="none" cap="none" strike="noStrike"/>
          </a:p>
        </p:txBody>
      </p:sp>
      <p:sp>
        <p:nvSpPr>
          <p:cNvPr id="212" name="Google Shape;212;p20"/>
          <p:cNvSpPr/>
          <p:nvPr/>
        </p:nvSpPr>
        <p:spPr>
          <a:xfrm>
            <a:off x="5247084" y="2502575"/>
            <a:ext cx="4136231" cy="4404003"/>
          </a:xfrm>
          <a:prstGeom prst="roundRect">
            <a:avLst>
              <a:gd fmla="val 8953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493901" y="2749391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🛡️</a:t>
            </a: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 Admin</a:t>
            </a:r>
            <a:endParaRPr b="0" i="0" sz="2150" u="none" cap="none" strike="noStrike"/>
          </a:p>
        </p:txBody>
      </p:sp>
      <p:sp>
        <p:nvSpPr>
          <p:cNvPr id="214" name="Google Shape;214;p20"/>
          <p:cNvSpPr/>
          <p:nvPr/>
        </p:nvSpPr>
        <p:spPr>
          <a:xfrm>
            <a:off x="5493901" y="3240405"/>
            <a:ext cx="3642598" cy="3419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Placement Command Center with batch analytics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Department-wise readiness heatmap by branch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Full student drill-down: applied, shortlisted, placed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Application pipeline visualisation chart</a:t>
            </a:r>
            <a:endParaRPr b="0" i="0" sz="1900" u="none" cap="none" strike="noStrike"/>
          </a:p>
        </p:txBody>
      </p:sp>
      <p:sp>
        <p:nvSpPr>
          <p:cNvPr id="215" name="Google Shape;215;p20"/>
          <p:cNvSpPr/>
          <p:nvPr/>
        </p:nvSpPr>
        <p:spPr>
          <a:xfrm>
            <a:off x="9630132" y="2502575"/>
            <a:ext cx="4136231" cy="4404003"/>
          </a:xfrm>
          <a:prstGeom prst="roundRect">
            <a:avLst>
              <a:gd fmla="val 8953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9876949" y="2749391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🏢</a:t>
            </a: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 Company</a:t>
            </a:r>
            <a:endParaRPr b="0" i="0" sz="2150" u="none" cap="none" strike="noStrike"/>
          </a:p>
        </p:txBody>
      </p:sp>
      <p:sp>
        <p:nvSpPr>
          <p:cNvPr id="217" name="Google Shape;217;p20"/>
          <p:cNvSpPr/>
          <p:nvPr/>
        </p:nvSpPr>
        <p:spPr>
          <a:xfrm>
            <a:off x="9876949" y="3240405"/>
            <a:ext cx="3642598" cy="3419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Post jobs with skill criteria and CGPA cutoff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View auto-ranked, filtered candidate lists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Update status: shortlisted → interview → placed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Edit, close, or delete active job postings</a:t>
            </a:r>
            <a:endParaRPr b="0" i="0" sz="1900" u="none" cap="none" strike="noStrike"/>
          </a:p>
        </p:txBody>
      </p:sp>
      <p:sp>
        <p:nvSpPr>
          <p:cNvPr id="218" name="Google Shape;218;p20"/>
          <p:cNvSpPr/>
          <p:nvPr/>
        </p:nvSpPr>
        <p:spPr>
          <a:xfrm>
            <a:off x="12802700" y="7677100"/>
            <a:ext cx="1827600" cy="552600"/>
          </a:xfrm>
          <a:prstGeom prst="roundRect">
            <a:avLst>
              <a:gd fmla="val 16667" name="adj"/>
            </a:avLst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PrepPulse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/>
          <p:nvPr/>
        </p:nvSpPr>
        <p:spPr>
          <a:xfrm>
            <a:off x="864037" y="1446728"/>
            <a:ext cx="868060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4300"/>
              <a:buFont typeface="Comfortaa"/>
              <a:buNone/>
            </a:pPr>
            <a:r>
              <a:rPr b="1" i="0" lang="en-US" sz="43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Engineering Practices Applied</a:t>
            </a:r>
            <a:endParaRPr b="0" i="0" sz="4300" u="none" cap="none" strike="noStrike"/>
          </a:p>
        </p:txBody>
      </p:sp>
      <p:sp>
        <p:nvSpPr>
          <p:cNvPr id="225" name="Google Shape;225;p21"/>
          <p:cNvSpPr/>
          <p:nvPr/>
        </p:nvSpPr>
        <p:spPr>
          <a:xfrm>
            <a:off x="864037" y="2626281"/>
            <a:ext cx="4136231" cy="4156472"/>
          </a:xfrm>
          <a:prstGeom prst="roundRect">
            <a:avLst>
              <a:gd fmla="val 8953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894517" y="2656761"/>
            <a:ext cx="4075271" cy="740569"/>
          </a:xfrm>
          <a:prstGeom prst="roundRect">
            <a:avLst>
              <a:gd fmla="val 45068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2747010" y="2795588"/>
            <a:ext cx="370284" cy="462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900"/>
              <a:buFont typeface="Comfortaa"/>
              <a:buNone/>
            </a:pPr>
            <a:r>
              <a:rPr b="1" i="0" lang="en-US" sz="29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endParaRPr b="0" i="0" sz="2900" u="none" cap="none" strike="noStrike"/>
          </a:p>
        </p:txBody>
      </p:sp>
      <p:sp>
        <p:nvSpPr>
          <p:cNvPr id="228" name="Google Shape;228;p21"/>
          <p:cNvSpPr/>
          <p:nvPr/>
        </p:nvSpPr>
        <p:spPr>
          <a:xfrm>
            <a:off x="1141333" y="3644146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Architecture</a:t>
            </a:r>
            <a:endParaRPr b="0" i="0" sz="2150" u="none" cap="none" strike="noStrike"/>
          </a:p>
        </p:txBody>
      </p:sp>
      <p:sp>
        <p:nvSpPr>
          <p:cNvPr id="229" name="Google Shape;229;p21"/>
          <p:cNvSpPr/>
          <p:nvPr/>
        </p:nvSpPr>
        <p:spPr>
          <a:xfrm>
            <a:off x="1141333" y="4135160"/>
            <a:ext cx="3581638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MVC pattern with SQLAlchemy Models, React Views, FastAPI Controllers. Dedicated service layer isolates match engine and AI logic.</a:t>
            </a:r>
            <a:endParaRPr b="0" i="0" sz="1900" u="none" cap="none" strike="noStrike"/>
          </a:p>
        </p:txBody>
      </p:sp>
      <p:sp>
        <p:nvSpPr>
          <p:cNvPr id="230" name="Google Shape;230;p21"/>
          <p:cNvSpPr/>
          <p:nvPr/>
        </p:nvSpPr>
        <p:spPr>
          <a:xfrm>
            <a:off x="5247084" y="2626281"/>
            <a:ext cx="4136231" cy="4156472"/>
          </a:xfrm>
          <a:prstGeom prst="roundRect">
            <a:avLst>
              <a:gd fmla="val 8953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5277564" y="2656761"/>
            <a:ext cx="4075271" cy="740569"/>
          </a:xfrm>
          <a:prstGeom prst="roundRect">
            <a:avLst>
              <a:gd fmla="val 45068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7130058" y="2795588"/>
            <a:ext cx="370284" cy="462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900"/>
              <a:buFont typeface="Comfortaa"/>
              <a:buNone/>
            </a:pPr>
            <a:r>
              <a:rPr b="1" i="0" lang="en-US" sz="29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2</a:t>
            </a:r>
            <a:endParaRPr b="0" i="0" sz="2900" u="none" cap="none" strike="noStrike"/>
          </a:p>
        </p:txBody>
      </p:sp>
      <p:sp>
        <p:nvSpPr>
          <p:cNvPr id="233" name="Google Shape;233;p21"/>
          <p:cNvSpPr/>
          <p:nvPr/>
        </p:nvSpPr>
        <p:spPr>
          <a:xfrm>
            <a:off x="5524381" y="3644146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Dev Practices</a:t>
            </a:r>
            <a:endParaRPr b="0" i="0" sz="2150" u="none" cap="none" strike="noStrike"/>
          </a:p>
        </p:txBody>
      </p:sp>
      <p:sp>
        <p:nvSpPr>
          <p:cNvPr id="234" name="Google Shape;234;p21"/>
          <p:cNvSpPr/>
          <p:nvPr/>
        </p:nvSpPr>
        <p:spPr>
          <a:xfrm>
            <a:off x="5524381" y="4135160"/>
            <a:ext cx="3581638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Git version control · Pydantic input validation · .env config secrets · CORS scoped to production domains · HTTP error handling</a:t>
            </a:r>
            <a:endParaRPr b="0" i="0" sz="1900" u="none" cap="none" strike="noStrike"/>
          </a:p>
        </p:txBody>
      </p:sp>
      <p:sp>
        <p:nvSpPr>
          <p:cNvPr id="235" name="Google Shape;235;p21"/>
          <p:cNvSpPr/>
          <p:nvPr/>
        </p:nvSpPr>
        <p:spPr>
          <a:xfrm>
            <a:off x="9630132" y="2626281"/>
            <a:ext cx="4136231" cy="4156472"/>
          </a:xfrm>
          <a:prstGeom prst="roundRect">
            <a:avLst>
              <a:gd fmla="val 8953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9660612" y="2656761"/>
            <a:ext cx="4075271" cy="740569"/>
          </a:xfrm>
          <a:prstGeom prst="roundRect">
            <a:avLst>
              <a:gd fmla="val 45068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11513106" y="2795588"/>
            <a:ext cx="370284" cy="462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900"/>
              <a:buFont typeface="Comfortaa"/>
              <a:buNone/>
            </a:pPr>
            <a:r>
              <a:rPr b="1" i="0" lang="en-US" sz="29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endParaRPr b="0" i="0" sz="2900" u="none" cap="none" strike="noStrike"/>
          </a:p>
        </p:txBody>
      </p:sp>
      <p:sp>
        <p:nvSpPr>
          <p:cNvPr id="238" name="Google Shape;238;p21"/>
          <p:cNvSpPr/>
          <p:nvPr/>
        </p:nvSpPr>
        <p:spPr>
          <a:xfrm>
            <a:off x="9907429" y="3644146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50"/>
              <a:buFont typeface="Comfortaa"/>
              <a:buNone/>
            </a:pPr>
            <a:r>
              <a:rPr b="1" i="0" lang="en-US" sz="21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CI/CD &amp; Deploy</a:t>
            </a:r>
            <a:endParaRPr b="0" i="0" sz="2150" u="none" cap="none" strike="noStrike"/>
          </a:p>
        </p:txBody>
      </p:sp>
      <p:sp>
        <p:nvSpPr>
          <p:cNvPr id="239" name="Google Shape;239;p21"/>
          <p:cNvSpPr/>
          <p:nvPr/>
        </p:nvSpPr>
        <p:spPr>
          <a:xfrm>
            <a:off x="9907429" y="4135160"/>
            <a:ext cx="3581638" cy="2370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GitHub push triggers automatic Render + Vercel deployments. Alembic manages schema migrations. Seed data populates DB on startup.</a:t>
            </a:r>
            <a:endParaRPr b="0" i="0" sz="1900" u="none" cap="none" strike="noStrike"/>
          </a:p>
        </p:txBody>
      </p:sp>
      <p:sp>
        <p:nvSpPr>
          <p:cNvPr id="240" name="Google Shape;240;p21"/>
          <p:cNvSpPr/>
          <p:nvPr/>
        </p:nvSpPr>
        <p:spPr>
          <a:xfrm>
            <a:off x="12802700" y="7677100"/>
            <a:ext cx="1827600" cy="552600"/>
          </a:xfrm>
          <a:prstGeom prst="roundRect">
            <a:avLst>
              <a:gd fmla="val 16667" name="adj"/>
            </a:avLst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PrepPulse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/>
          <p:nvPr/>
        </p:nvSpPr>
        <p:spPr>
          <a:xfrm>
            <a:off x="849154" y="693777"/>
            <a:ext cx="5886093" cy="673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4200"/>
              <a:buFont typeface="Comfortaa"/>
              <a:buNone/>
            </a:pPr>
            <a:r>
              <a:rPr b="1" i="0" lang="en-US" sz="42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Results &amp; Conclusion</a:t>
            </a:r>
            <a:endParaRPr b="0" i="0" sz="4200" u="none" cap="none" strike="noStrike"/>
          </a:p>
        </p:txBody>
      </p:sp>
      <p:sp>
        <p:nvSpPr>
          <p:cNvPr id="247" name="Google Shape;247;p22"/>
          <p:cNvSpPr/>
          <p:nvPr/>
        </p:nvSpPr>
        <p:spPr>
          <a:xfrm>
            <a:off x="849154" y="1846421"/>
            <a:ext cx="4111943" cy="800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300"/>
              <a:buFont typeface="Comfortaa"/>
              <a:buNone/>
            </a:pPr>
            <a:r>
              <a:rPr b="1" i="0" lang="en-US" sz="63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36</a:t>
            </a:r>
            <a:endParaRPr b="0" i="0" sz="6300" u="none" cap="none" strike="noStrike"/>
          </a:p>
        </p:txBody>
      </p:sp>
      <p:sp>
        <p:nvSpPr>
          <p:cNvPr id="248" name="Google Shape;248;p22"/>
          <p:cNvSpPr/>
          <p:nvPr/>
        </p:nvSpPr>
        <p:spPr>
          <a:xfrm>
            <a:off x="1557218" y="2946916"/>
            <a:ext cx="2695694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00"/>
              <a:buFont typeface="Comfortaa"/>
              <a:buNone/>
            </a:pPr>
            <a:r>
              <a:rPr b="1" i="0" lang="en-US" sz="21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Seeded Users</a:t>
            </a:r>
            <a:endParaRPr b="0" i="0" sz="2100" u="none" cap="none" strike="noStrike"/>
          </a:p>
        </p:txBody>
      </p:sp>
      <p:sp>
        <p:nvSpPr>
          <p:cNvPr id="249" name="Google Shape;249;p22"/>
          <p:cNvSpPr/>
          <p:nvPr/>
        </p:nvSpPr>
        <p:spPr>
          <a:xfrm>
            <a:off x="849154" y="3426857"/>
            <a:ext cx="4111943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Students, companies &amp; admin for live demo</a:t>
            </a:r>
            <a:endParaRPr b="0" i="0" sz="1900" u="none" cap="none" strike="noStrike"/>
          </a:p>
        </p:txBody>
      </p:sp>
      <p:sp>
        <p:nvSpPr>
          <p:cNvPr id="250" name="Google Shape;250;p22"/>
          <p:cNvSpPr/>
          <p:nvPr/>
        </p:nvSpPr>
        <p:spPr>
          <a:xfrm>
            <a:off x="5259110" y="1846421"/>
            <a:ext cx="4112062" cy="800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300"/>
              <a:buFont typeface="Comfortaa"/>
              <a:buNone/>
            </a:pPr>
            <a:r>
              <a:rPr b="1" i="0" lang="en-US" sz="63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12</a:t>
            </a:r>
            <a:endParaRPr b="0" i="0" sz="6300" u="none" cap="none" strike="noStrike"/>
          </a:p>
        </p:txBody>
      </p:sp>
      <p:sp>
        <p:nvSpPr>
          <p:cNvPr id="251" name="Google Shape;251;p22"/>
          <p:cNvSpPr/>
          <p:nvPr/>
        </p:nvSpPr>
        <p:spPr>
          <a:xfrm>
            <a:off x="5967293" y="2946916"/>
            <a:ext cx="2695694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00"/>
              <a:buFont typeface="Comfortaa"/>
              <a:buNone/>
            </a:pPr>
            <a:r>
              <a:rPr b="1" i="0" lang="en-US" sz="21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Job Listings</a:t>
            </a:r>
            <a:endParaRPr b="0" i="0" sz="2100" u="none" cap="none" strike="noStrike"/>
          </a:p>
        </p:txBody>
      </p:sp>
      <p:sp>
        <p:nvSpPr>
          <p:cNvPr id="252" name="Google Shape;252;p22"/>
          <p:cNvSpPr/>
          <p:nvPr/>
        </p:nvSpPr>
        <p:spPr>
          <a:xfrm>
            <a:off x="5259110" y="3426857"/>
            <a:ext cx="4112062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Across 10 companies with full match scoring</a:t>
            </a:r>
            <a:endParaRPr b="0" i="0" sz="1900" u="none" cap="none" strike="noStrike"/>
          </a:p>
        </p:txBody>
      </p:sp>
      <p:sp>
        <p:nvSpPr>
          <p:cNvPr id="253" name="Google Shape;253;p22"/>
          <p:cNvSpPr/>
          <p:nvPr/>
        </p:nvSpPr>
        <p:spPr>
          <a:xfrm>
            <a:off x="9669185" y="1846421"/>
            <a:ext cx="4112062" cy="800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300"/>
              <a:buFont typeface="Comfortaa"/>
              <a:buNone/>
            </a:pPr>
            <a:r>
              <a:rPr b="1" i="0" lang="en-US" sz="63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55+</a:t>
            </a:r>
            <a:endParaRPr b="0" i="0" sz="6300" u="none" cap="none" strike="noStrike"/>
          </a:p>
        </p:txBody>
      </p:sp>
      <p:sp>
        <p:nvSpPr>
          <p:cNvPr id="254" name="Google Shape;254;p22"/>
          <p:cNvSpPr/>
          <p:nvPr/>
        </p:nvSpPr>
        <p:spPr>
          <a:xfrm>
            <a:off x="10377368" y="2946916"/>
            <a:ext cx="2695694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2100"/>
              <a:buFont typeface="Comfortaa"/>
              <a:buNone/>
            </a:pPr>
            <a:r>
              <a:rPr b="1" i="0" lang="en-US" sz="21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Applications</a:t>
            </a:r>
            <a:endParaRPr b="0" i="0" sz="2100" u="none" cap="none" strike="noStrike"/>
          </a:p>
        </p:txBody>
      </p:sp>
      <p:sp>
        <p:nvSpPr>
          <p:cNvPr id="255" name="Google Shape;255;p22"/>
          <p:cNvSpPr/>
          <p:nvPr/>
        </p:nvSpPr>
        <p:spPr>
          <a:xfrm>
            <a:off x="9669185" y="3426857"/>
            <a:ext cx="4112062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Real-time matched &amp; ranked in demo data</a:t>
            </a:r>
            <a:endParaRPr b="0" i="0" sz="1900" u="none" cap="none" strike="noStrike"/>
          </a:p>
        </p:txBody>
      </p:sp>
      <p:sp>
        <p:nvSpPr>
          <p:cNvPr id="256" name="Google Shape;256;p22"/>
          <p:cNvSpPr/>
          <p:nvPr/>
        </p:nvSpPr>
        <p:spPr>
          <a:xfrm>
            <a:off x="849154" y="4702969"/>
            <a:ext cx="2695694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2100"/>
              <a:buFont typeface="Comfortaa"/>
              <a:buNone/>
            </a:pPr>
            <a:r>
              <a:rPr b="1" i="0" lang="en-US" sz="21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Live Application</a:t>
            </a:r>
            <a:endParaRPr b="0" i="0" sz="2100" u="none" cap="none" strike="noStrike"/>
          </a:p>
        </p:txBody>
      </p:sp>
      <p:sp>
        <p:nvSpPr>
          <p:cNvPr id="257" name="Google Shape;257;p22"/>
          <p:cNvSpPr/>
          <p:nvPr/>
        </p:nvSpPr>
        <p:spPr>
          <a:xfrm>
            <a:off x="849154" y="5278279"/>
            <a:ext cx="6170057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🌐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App: </a:t>
            </a:r>
            <a:r>
              <a:rPr b="0" i="0" lang="en-US" sz="1900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prepulse-frontend.vercel.app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0" i="0" sz="1900" u="none" cap="none" strike="noStrike">
              <a:solidFill>
                <a:srgbClr val="D7D4CC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📡</a:t>
            </a: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 API Docs: </a:t>
            </a:r>
            <a:r>
              <a:rPr b="0" i="0" lang="en-US" sz="1900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prepulse-api.onrender.com/api/docs</a:t>
            </a:r>
            <a:endParaRPr b="0" i="0" sz="1900" u="none" cap="none" strike="noStrike"/>
          </a:p>
        </p:txBody>
      </p:sp>
      <p:sp>
        <p:nvSpPr>
          <p:cNvPr id="258" name="Google Shape;258;p22"/>
          <p:cNvSpPr/>
          <p:nvPr/>
        </p:nvSpPr>
        <p:spPr>
          <a:xfrm>
            <a:off x="7618809" y="4702969"/>
            <a:ext cx="2695694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2100"/>
              <a:buFont typeface="Comfortaa"/>
              <a:buNone/>
            </a:pPr>
            <a:r>
              <a:rPr b="1" i="0" lang="en-US" sz="21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Future Scope</a:t>
            </a:r>
            <a:endParaRPr b="0" i="0" sz="2100" u="none" cap="none" strike="noStrike"/>
          </a:p>
        </p:txBody>
      </p:sp>
      <p:sp>
        <p:nvSpPr>
          <p:cNvPr id="259" name="Google Shape;259;p22"/>
          <p:cNvSpPr/>
          <p:nvPr/>
        </p:nvSpPr>
        <p:spPr>
          <a:xfrm>
            <a:off x="7618809" y="5278279"/>
            <a:ext cx="6170057" cy="2174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Resume/CV parsing for automatic skill extraction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Email notifications for status updates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Multi-college deployment with institution management</a:t>
            </a:r>
            <a:endParaRPr b="0" i="0" sz="1900" u="none" cap="none" strike="noStrike"/>
          </a:p>
          <a:p>
            <a:pPr indent="-342900" lvl="0" marL="34290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900"/>
              <a:buFont typeface="Raleway"/>
              <a:buChar char="•"/>
            </a:pPr>
            <a:r>
              <a:rPr b="0" i="0" lang="en-US" sz="1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Mobile app via React Native</a:t>
            </a:r>
            <a:endParaRPr b="0" i="0" sz="1900" u="none" cap="none" strike="noStrike"/>
          </a:p>
        </p:txBody>
      </p:sp>
      <p:sp>
        <p:nvSpPr>
          <p:cNvPr id="260" name="Google Shape;260;p22"/>
          <p:cNvSpPr/>
          <p:nvPr/>
        </p:nvSpPr>
        <p:spPr>
          <a:xfrm>
            <a:off x="12802700" y="7677100"/>
            <a:ext cx="1827600" cy="552600"/>
          </a:xfrm>
          <a:prstGeom prst="roundRect">
            <a:avLst>
              <a:gd fmla="val 16667" name="adj"/>
            </a:avLst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PrepPulse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/>
          <p:nvPr/>
        </p:nvSpPr>
        <p:spPr>
          <a:xfrm>
            <a:off x="12802700" y="7677100"/>
            <a:ext cx="1827600" cy="552600"/>
          </a:xfrm>
          <a:prstGeom prst="roundRect">
            <a:avLst>
              <a:gd fmla="val 16667" name="adj"/>
            </a:avLst>
          </a:prstGeom>
          <a:solidFill>
            <a:srgbClr val="27272B"/>
          </a:solidFill>
          <a:ln cap="flat" cmpd="sng" w="9525">
            <a:solidFill>
              <a:srgbClr val="27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PrepPulse</a:t>
            </a:r>
            <a:endParaRPr sz="1800"/>
          </a:p>
        </p:txBody>
      </p:sp>
      <p:sp>
        <p:nvSpPr>
          <p:cNvPr id="267" name="Google Shape;267;p23"/>
          <p:cNvSpPr txBox="1"/>
          <p:nvPr/>
        </p:nvSpPr>
        <p:spPr>
          <a:xfrm>
            <a:off x="641925" y="2467300"/>
            <a:ext cx="13589100" cy="43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solidFill>
                  <a:srgbClr val="D7D4CC"/>
                </a:solidFill>
              </a:rPr>
              <a:t>Ansh Raj           | Roll: 2330289 | Backend, Deployment, </a:t>
            </a:r>
            <a:r>
              <a:rPr lang="en-US" sz="3300">
                <a:solidFill>
                  <a:srgbClr val="D7D4CC"/>
                </a:solidFill>
              </a:rPr>
              <a:t>Testing</a:t>
            </a:r>
            <a:endParaRPr sz="3300">
              <a:solidFill>
                <a:srgbClr val="D7D4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solidFill>
                  <a:srgbClr val="D7D4CC"/>
                </a:solidFill>
              </a:rPr>
              <a:t>Manya Singh        | Roll: 2330311 | Frontend, UI/UX Design, </a:t>
            </a:r>
            <a:r>
              <a:rPr lang="en-US" sz="3300">
                <a:solidFill>
                  <a:srgbClr val="D7D4CC"/>
                </a:solidFill>
              </a:rPr>
              <a:t>Backend</a:t>
            </a:r>
            <a:endParaRPr sz="3300">
              <a:solidFill>
                <a:srgbClr val="D7D4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solidFill>
                  <a:srgbClr val="D7D4CC"/>
                </a:solidFill>
              </a:rPr>
              <a:t>Preetush Bhowmik   | Roll: 2330175 | Match Engine, </a:t>
            </a:r>
            <a:r>
              <a:rPr lang="en-US" sz="3300">
                <a:solidFill>
                  <a:srgbClr val="D7D4CC"/>
                </a:solidFill>
              </a:rPr>
              <a:t>Frontend,</a:t>
            </a:r>
            <a:r>
              <a:rPr lang="en-US" sz="3300">
                <a:solidFill>
                  <a:srgbClr val="D7D4CC"/>
                </a:solidFill>
              </a:rPr>
              <a:t> Database Design</a:t>
            </a:r>
            <a:endParaRPr sz="3300">
              <a:solidFill>
                <a:srgbClr val="D7D4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solidFill>
                  <a:srgbClr val="D7D4CC"/>
                </a:solidFill>
              </a:rPr>
              <a:t>Labani Sen  | Roll: 2330309 | Testing, Documentation, </a:t>
            </a:r>
            <a:r>
              <a:rPr lang="en-US" sz="3300">
                <a:solidFill>
                  <a:srgbClr val="D7D4CC"/>
                </a:solidFill>
              </a:rPr>
              <a:t>UI/UX Design</a:t>
            </a:r>
            <a:endParaRPr sz="3300">
              <a:solidFill>
                <a:srgbClr val="D7D4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729300" y="535875"/>
            <a:ext cx="131718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D7D4CC"/>
                </a:solidFill>
              </a:rPr>
              <a:t>Individual Contribution</a:t>
            </a:r>
            <a:endParaRPr sz="3600">
              <a:solidFill>
                <a:srgbClr val="D7D4C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